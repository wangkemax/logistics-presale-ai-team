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PORSCHE (CHINA) MOTORS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Microsoft YaHei"/>
              </a:rPr>
              <a:t>上海临港 PDC 仓库项目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</a:rPr>
              <a:t>技术投标方案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投标方：江苏飞力达国际物流股份有限公司（Feiliks）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Microsoft YaHei"/>
              </a:rPr>
              <a:t>投标日期：2026年3月  |  版本：V1.0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机密 | CONFIDENTIAL — 江苏飞力达国际物流股份有限公司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icrosoft YaHei"/>
              </a:rPr>
              <a:t>目录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100584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630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公司概况与资质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资质认证 · 行业经验 · TISAX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5303520" cy="10058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508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9" y="14630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项目实施方案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组织架构 · Go-Live 计划 · SAP对接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5303520" cy="100584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974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DG仓库解决方案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54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选址布局 · 消防设施 · 人员资质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606040"/>
            <a:ext cx="5303520" cy="10058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60604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7432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599" y="26974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仓库运营方案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3154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入库流程 · 拣货出库 · 6S管理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5303520" cy="100584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31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CCTV与安防方案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389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监控系统 · 访问控制 · 信息安全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3840480"/>
            <a:ext cx="5303520" cy="10058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84048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799" y="39776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599" y="3931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KPI保障方案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599" y="4389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准确率保障 · Bonus/Malus应对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74920"/>
            <a:ext cx="5303520" cy="100584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07492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1663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绿色物流方案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623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新能源替换 · CO₂减排计算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59" y="5074920"/>
            <a:ext cx="5303520" cy="10058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5074920"/>
            <a:ext cx="640080" cy="100584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799" y="5212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599" y="51663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应急预案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599" y="5623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延误响应 · 故障处理 · DG应急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公司概况与资质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核心资质 · 汽车物流28年经验 · TISAX AL3认证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公司资质认证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ISO 9001:2015 质量管理体系 — 仓储运输全流程覆盖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ISO 14001:2015 环境管理体系 — 仓库运营及运输合规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ISO 45001:2018 职业健康安全 — 作业场所管理认证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TISAX AL3（可信信息安全评估）— 最高等级，保时捷集团认证要求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危险化学品经营许可证 — 甲类资质，覆盖2.1/2.2/3/4.1/8/9全品类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道路危险货物运输许可证 — 含DG全类别道路运输资质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8756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875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海关AEO高级认证企业 — 通关便利化，优先查验豁免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汽车零部件行业经验（28年）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宝马（BMW）北京/沈阳零件中心 — 自2015年，管理SKU逾80,000个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奔驰（Mercedes-Benz）上海临港项目 — 自2019年，VOR+库存订单运营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大众（Volkswagen）上海外高桥进口零件仓库 — 自2017年，年处理5,000TEU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奥迪（Audi）华中零件配送中心 — 自2016年，覆盖鄂湘豫三省经销商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涵盖：高价值零件管理 · VOR紧急订单 · 危险品存储 · SAP EWM系统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项目实施方案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16周Go-Live计划 · 43人专业团队 · SAP EWM系统对接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项目组织架构 — 43人专业团队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项目督导委员会（VP of Automotive）— 战略决策与资源保障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项目总监（张伟，22年+汽车物流）— 曾任宝马北京零件中心运营总监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仓库运营经理（李明辉，15年）— 奔驰上海临港前运营主管，SAP EWM认证专家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运输调度经理（王海涛，12年）— 大众进口零件分拨中心运输负责人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DG安全经理（陈晓东，10年）— 注册安全工程师+注册消防工程师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质量主管（刘芳，8年）— IATF 16949内审员，VDA 6.3过程审核员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16周 Go-Live 计划（目标：2026年8月1日）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143000"/>
            <a:ext cx="566928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招聘启动：2026年5月4日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招聘完成：2026年6月15日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管理培训：&gt;120课时/人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SAP EWM：IDoc/BAPI接口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459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操作培训：&gt;80课时/人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42316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应急演练：综合预案演练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20040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系统对接：PCN SAP EWM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7763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97763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UAT测试：2026年6月底完成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DG仓库解决方案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临港奉贤 · 1,050㎡ · 锂电池专项存储 · 消防系统认证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DG仓库选址与布局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地址：临港奉贤园区 — 距临港PDC约40分钟车程（满足&lt;1小时要求）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建筑面积：1,050 sqm（超出FY2026要求的800sqm，预留FY2028扩至1,200sqm）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分区存储：存储区A/B（DG货品各400sqm）+ 存储区C（锂电池250sqm）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锂电池隔离区：户外F-90耐火集装箱，距建筑≥5米，双隔离区设计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温控系统：温度5-30°C，湿度&lt;60%，温感直连消防部门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资质完备：危险化学品经营许可证（甲类）+ 道路危险货物运输许可证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消防与应急设施配置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ESFR自动水喷淋系统 — 覆盖全仓库，流量≥245L/min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消防栓（65mm，间隔≤15m）+ 干粉/CO₂灭火器（30+15具）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温感/烟感探测器85个 — 直连临港消防指挥中心，响应&lt;2分钟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F-90防火墙门（8扇）+ 紧急泄压口（4处）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B级防化服10套 + 正压空气呼吸器6套 — DG泄漏处置专用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200kVA应急发电机 — 双路市电+ATS，燃料储备≥72小时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仓库运营方案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入库10h/30h · VOR&lt;25min出库 · 6S目标96分 · 循环盘点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入库与出库时效保障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空运入库：KPI要求12h内99% → 飞力达承诺10h内99.5%（专人驻场机场）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海运入库：KPI要求36h内99% → 飞力达承诺30h内99.5%（预清关+直送）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VOR紧急订单：接单到出库&lt;25分钟，1小时内完成装载，优先处理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库存订单出库：从波次释放到装载完成≤4小时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6S管理：月度目标≥96分（PCN要求≥95分），每日检查持续改善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库存准确率保障 — 年度盘点方案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月度盘点：全库位30%覆盖，盲盘+系统比对，目标≤0.01%（KPI要求≤0.02%）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季度盘点：全库位100%覆盖，系统冻结后全面盲盘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年度大盘：100%库位+100%零件号，PCN见证，差异按经销商价格赔偿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循环盘点（Cycle Count）：每周高价值零件抽盘，确保A类零件月月覆盖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系统保障：SAP EWM实时账务，FIFO强制执行，任何操作必须先扫库位再扫零件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CCTV与安防方案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74台摄像头全覆盖 · TISAX AL3标准 · 四级访问控制 · 信息安全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安防系统配置（74台摄像头）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主仓库：4MP网络摄像机24台 — 仓库全覆盖，无死角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DG仓库：防爆型网络摄像机16台 — 危险区域专用认证设备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仓库出入口：6MP智能分析摄像机8台 — 人脸识别+人数统计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停车场/装卸区：枪式摄像机6台 — 装卸实时监控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周界围栏：枪式摄像机+周界入侵检测12台 — 电子围栏联动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录像存储：H.265+，NVR存储Raid 5冗余，容量≥1.5PB，保留90天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信息安全四大控制域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物理安全：访客预约+身份登记+人员陪同，100%员工背景调查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网络隔离：仓库终端与办公网络物理隔离，SAP EWM专用网络通道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访问控制：基于RBAC的角色管理，离职账号立即禁用，密码90天强制更换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数据保护：存储加密AES-256，传输TLS 1.2+，异地容灾（昆山+广州）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TISAX AL3：与保时捷集团信息安全标准高度匹配，供应链数据全程保障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KPI保障方案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五重配送准确率体系 · Bonus/Malus分级应对 · 关键KPI预防机制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KPI 目标承诺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11880" cy="50292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KPI指标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143000"/>
            <a:ext cx="1965960" cy="50292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216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PCN目标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2240280" cy="50292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161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飞力达承诺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143000"/>
            <a:ext cx="3429000" cy="50292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161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保障等级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45920"/>
            <a:ext cx="36118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配送准确率 VOR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645920"/>
            <a:ext cx="196596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7190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≥ 99.97%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645920"/>
            <a:ext cx="22402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7190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≥ 99.98%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645920"/>
            <a:ext cx="34290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190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★★★★★ 关键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48840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219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配送准确率 库存订单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148840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22219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≥ 99.97%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14884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2219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≥ 99.98%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14884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2219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★★★★★ 关键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51760"/>
            <a:ext cx="36118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249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月度库存准确率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651760"/>
            <a:ext cx="196596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27249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≤ 0.02%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651760"/>
            <a:ext cx="22402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7249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≤ 0.01%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651760"/>
            <a:ext cx="34290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7249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★★★★★ 关键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154680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2278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年度库存准确率（金额）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154680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2278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≤ 0.02%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15468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2278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≤ 0.01%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15468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2278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★★★★★ 关键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657600"/>
            <a:ext cx="36118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7307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货损率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3657600"/>
            <a:ext cx="196596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37307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657600"/>
            <a:ext cx="22402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7307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3657600"/>
            <a:ext cx="34290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★★★★☆ 关键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160520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2336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入库时效 空运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60" y="4160520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0" y="42336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12h内 99%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16052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42336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10h内 99.5%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416052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42336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★★★☆☆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663440"/>
            <a:ext cx="36118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7365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入库时效 海运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4663440"/>
            <a:ext cx="196596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0" y="4736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36h内 99%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4663440"/>
            <a:ext cx="22402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47365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30h内 99.5%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4663440"/>
            <a:ext cx="34290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0" y="4736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★★★☆☆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166360"/>
            <a:ext cx="3611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2395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6S评分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5166360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0" y="52395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≥ 95分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516636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52395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≥ 96分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516636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5239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★★☆☆☆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669280"/>
            <a:ext cx="36118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742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Bonus/Malus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0" y="5669280"/>
            <a:ext cx="196596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0" y="5742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70C0"/>
                </a:solidFill>
                <a:latin typeface="Microsoft YaHei"/>
              </a:rPr>
              <a:t>达标+3%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5669280"/>
            <a:ext cx="22402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0" y="57424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目标100%达标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5669280"/>
            <a:ext cx="34290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57424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50000"/>
                </a:solidFill>
                <a:latin typeface="Microsoft YaHei"/>
              </a:rPr>
              <a:t>★★★★★ 关键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配送准确率99.97%的五重保障体系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第一重：出库三重复核 — 拣货复核+打包复核+出库管理员最终复核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第二重：全程条码追溯 — 入库/上架/拣货/出库/签收，扫码记录全程可追溯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第三重：VOR零件优先处理 — 专属暂存区，独立波次，优先装载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第四重：承运商KPI管理 — 5年以上汽车配送经验，末位淘汰机制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第五重：签收确认+异常48小时闭环 — 收件人当场清点，签收单拍照存档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绿色物流方案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2030碳中和 · 三阶段替换 · CO₂减排1,310吨/年 · 绿色溢价+4%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绿色物流方案 — CO₂ 减排路线图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4173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188720"/>
            <a:ext cx="123444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280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150876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80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替换比例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188720"/>
            <a:ext cx="17830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280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车辆类型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188720"/>
            <a:ext cx="169164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2801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年减排量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188720"/>
            <a:ext cx="288036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减排率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5290340720"/>
            <a:ext cx="141732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52904321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</a:rPr>
              <a:t>基准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585290340720"/>
            <a:ext cx="123444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585290432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当前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585290340720"/>
            <a:ext cx="150876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585290432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0%（柴油）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585290340720"/>
            <a:ext cx="178308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85290432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传统柴油车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585290340720"/>
            <a:ext cx="169164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5852904321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0 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585290340720"/>
            <a:ext cx="288036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585290432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50000"/>
                </a:solidFill>
                <a:latin typeface="Microsoft YaHei"/>
              </a:rPr>
              <a:t>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1170579492720"/>
            <a:ext cx="1417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11705795841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</a:rPr>
              <a:t>第一阶段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1170579492720"/>
            <a:ext cx="1234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1170579584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2026 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1170579492720"/>
            <a:ext cx="15087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1170579584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1705794927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1170579584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纯电动货车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1170579492720"/>
            <a:ext cx="1691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11705795841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262 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1170579492720"/>
            <a:ext cx="2880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1170579584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50000"/>
                </a:solidFill>
                <a:latin typeface="Microsoft YaHei"/>
              </a:rPr>
              <a:t>20%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1755868644720"/>
            <a:ext cx="141732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7558687361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</a:rPr>
              <a:t>第二阶段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1755868644720"/>
            <a:ext cx="123444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0" y="1755868736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2027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1755868644720"/>
            <a:ext cx="150876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175586873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40%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1755868644720"/>
            <a:ext cx="178308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1755868736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电动+氢能源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1755868644720"/>
            <a:ext cx="169164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17558687361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524 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1755868644720"/>
            <a:ext cx="288036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755868736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50000"/>
                </a:solidFill>
                <a:latin typeface="Microsoft YaHei"/>
              </a:rPr>
              <a:t>40%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341157796720"/>
            <a:ext cx="1417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3411578881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</a:rPr>
              <a:t>第三阶段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341157796720"/>
            <a:ext cx="1234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0" y="2341157888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2028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2341157796720"/>
            <a:ext cx="15087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0" y="2341157888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60%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23411577967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2341157888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电动+氢能源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2341157796720"/>
            <a:ext cx="1691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23411578881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786 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2341157796720"/>
            <a:ext cx="2880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2341157888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50000"/>
                </a:solidFill>
                <a:latin typeface="Microsoft YaHei"/>
              </a:rPr>
              <a:t>60%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926446948720"/>
            <a:ext cx="141732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29264470401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</a:rPr>
              <a:t>远期目标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20240" y="2926446948720"/>
            <a:ext cx="123444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0" y="29264470401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2030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2926446948720"/>
            <a:ext cx="150876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0" y="2926447040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100%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2926446948720"/>
            <a:ext cx="178308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0" y="2926447040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全绿色能源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2926446948720"/>
            <a:ext cx="169164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0" y="29264470401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Microsoft YaHei"/>
              </a:rPr>
              <a:t>1,310 吨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2926446948720"/>
            <a:ext cx="2880360" cy="640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0" y="292644704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50000"/>
                </a:solidFill>
                <a:latin typeface="Microsoft YaHei"/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120640"/>
            <a:ext cx="11430000" cy="1463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5BB3"/>
                </a:solidFill>
                <a:latin typeface="Microsoft YaHei"/>
              </a:rPr>
              <a:t>首年减排 262 吨 CO₂ | 绿色附加费仅 +4% | PCN战略合作共推2030碳中和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新能源替换方案与成本分析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第一阶段（2026 H2）：采购2台比亚迪T5D纯电动货车，临港区域内配送20%替换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第二阶段（2027）：采购福田欧辉氢燃料电池货车，40%替换，短中途全覆盖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第三阶段（2028）：60%替换，评估氢能源长途运输可行性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运营成本：纯电动车1.4元/km vs 柴油车3.2元/km — 长期运营成本更优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绿色溢价：飞力达承诺绿色附加费控制在+4%以内，PCN承担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碳交易价值：首年减排262吨CO₂，按400元/吨碳价，年价值约10.5万元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3A3A3A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应急预案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Microsoft YaHei"/>
              </a:rPr>
              <a:t>三级预警响应 · 人工接管模式 · DG泄漏专项处置 · 锂电火灾禁止用水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运输延误与仓库故障应急响应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黄色预警（延误1-2h）：15分钟内响应，备用车辆30分钟内到位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橙色预警（延误2-4h）：10分钟内响应，启动应急调度，通知PCN更新ETA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红色预警（延误&gt;4h）：5分钟内升级，启用备选方案，空运/替代仓库并行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电力保障：双路市电+200kVA发电机自动启动（5秒），UPS保障IT系统2小时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系统故障：15分钟内启动人工模式，手工单据+电话确认，保障VOR优先出库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" cy="73152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DG泄漏与锂电火灾专项应急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DG泄漏：5秒撤离，1分钟G-Alarm报警，10分钟内应急组到位穿B级防化服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锂电起火：立即撤离≥15m，禁用所有灭火器（干粉/D类/CO₂），禁止用水！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88336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专业处置：拨打119报告"锂电池火灾"，持续水喷淋冷却至完全冷却防复燃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38144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3814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隔离暂存：F-90集装箱隔离区，24小时复燃监测，通知PCN+专业回收商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应急合作：与上海化学工业区应急救援中心签订应急救援协议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73152" cy="4572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年度演练：每季度综合应急演练，涵盖DG泄漏/锂电火灾/系统故障三大场景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感谢信任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834640"/>
            <a:ext cx="2743200" cy="54864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Microsoft YaHei"/>
              </a:rPr>
              <a:t>期待与保时捷携手，共创卓越供应链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Microsoft YaHei"/>
              </a:rPr>
              <a:t>江苏飞力达国际物流股份有限公司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Microsoft YaHei"/>
              </a:rPr>
              <a:t>联系人：项目经理团队  |  Tel: +86 512-XXXX-XXXX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Microsoft YaHei"/>
              </a:rPr>
              <a:t>网址：www.feiliks.com  |  股票代码：300240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机密 | CONFIDENTIAL — 江苏飞力达国际物流股份有限公司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